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</p:sldIdLst>
  <p:sldSz cx="20159663" cy="29124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73" userDrawn="1">
          <p15:clr>
            <a:srgbClr val="A4A3A4"/>
          </p15:clr>
        </p15:guide>
        <p15:guide id="2" pos="63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A82C28"/>
    <a:srgbClr val="CC3300"/>
    <a:srgbClr val="990000"/>
    <a:srgbClr val="FFC8B7"/>
    <a:srgbClr val="FFD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453" autoAdjust="0"/>
  </p:normalViewPr>
  <p:slideViewPr>
    <p:cSldViewPr snapToGrid="0">
      <p:cViewPr varScale="1">
        <p:scale>
          <a:sx n="39" d="100"/>
          <a:sy n="39" d="100"/>
        </p:scale>
        <p:origin x="3948" y="44"/>
      </p:cViewPr>
      <p:guideLst>
        <p:guide orient="horz" pos="9173"/>
        <p:guide pos="63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1975" y="4766406"/>
            <a:ext cx="17135714" cy="10139562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9958" y="15296988"/>
            <a:ext cx="15119747" cy="7031623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89" indent="0" algn="ctr">
              <a:buNone/>
              <a:defRPr sz="4409"/>
            </a:lvl2pPr>
            <a:lvl3pPr marL="2015978" indent="0" algn="ctr">
              <a:buNone/>
              <a:defRPr sz="3968"/>
            </a:lvl3pPr>
            <a:lvl4pPr marL="3023967" indent="0" algn="ctr">
              <a:buNone/>
              <a:defRPr sz="3528"/>
            </a:lvl4pPr>
            <a:lvl5pPr marL="4031955" indent="0" algn="ctr">
              <a:buNone/>
              <a:defRPr sz="3528"/>
            </a:lvl5pPr>
            <a:lvl6pPr marL="5039944" indent="0" algn="ctr">
              <a:buNone/>
              <a:defRPr sz="3528"/>
            </a:lvl6pPr>
            <a:lvl7pPr marL="6047933" indent="0" algn="ctr">
              <a:buNone/>
              <a:defRPr sz="3528"/>
            </a:lvl7pPr>
            <a:lvl8pPr marL="7055922" indent="0" algn="ctr">
              <a:buNone/>
              <a:defRPr sz="3528"/>
            </a:lvl8pPr>
            <a:lvl9pPr marL="8063911" indent="0" algn="ctr">
              <a:buNone/>
              <a:defRPr sz="352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62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499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478" y="7260852"/>
            <a:ext cx="17387709" cy="12114887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478" y="19490351"/>
            <a:ext cx="17387709" cy="6370933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/>
                </a:solidFill>
              </a:defRPr>
            </a:lvl1pPr>
            <a:lvl2pPr marL="1007989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2pPr>
            <a:lvl3pPr marL="2015978" indent="0">
              <a:buNone/>
              <a:defRPr sz="3968">
                <a:solidFill>
                  <a:schemeClr val="tx1">
                    <a:tint val="75000"/>
                  </a:schemeClr>
                </a:solidFill>
              </a:defRPr>
            </a:lvl3pPr>
            <a:lvl4pPr marL="3023967" indent="0">
              <a:buNone/>
              <a:defRPr sz="3528">
                <a:solidFill>
                  <a:schemeClr val="tx1">
                    <a:tint val="75000"/>
                  </a:schemeClr>
                </a:solidFill>
              </a:defRPr>
            </a:lvl4pPr>
            <a:lvl5pPr marL="4031955" indent="0">
              <a:buNone/>
              <a:defRPr sz="3528">
                <a:solidFill>
                  <a:schemeClr val="tx1">
                    <a:tint val="75000"/>
                  </a:schemeClr>
                </a:solidFill>
              </a:defRPr>
            </a:lvl5pPr>
            <a:lvl6pPr marL="5039944" indent="0">
              <a:buNone/>
              <a:defRPr sz="3528">
                <a:solidFill>
                  <a:schemeClr val="tx1">
                    <a:tint val="75000"/>
                  </a:schemeClr>
                </a:solidFill>
              </a:defRPr>
            </a:lvl6pPr>
            <a:lvl7pPr marL="6047933" indent="0">
              <a:buNone/>
              <a:defRPr sz="3528">
                <a:solidFill>
                  <a:schemeClr val="tx1">
                    <a:tint val="75000"/>
                  </a:schemeClr>
                </a:solidFill>
              </a:defRPr>
            </a:lvl7pPr>
            <a:lvl8pPr marL="7055922" indent="0">
              <a:buNone/>
              <a:defRPr sz="3528">
                <a:solidFill>
                  <a:schemeClr val="tx1">
                    <a:tint val="75000"/>
                  </a:schemeClr>
                </a:solidFill>
              </a:defRPr>
            </a:lvl8pPr>
            <a:lvl9pPr marL="8063911" indent="0">
              <a:buNone/>
              <a:defRPr sz="35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41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77" y="7752990"/>
            <a:ext cx="8567857" cy="184790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05829" y="7752990"/>
            <a:ext cx="8567857" cy="1847908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6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3" y="1550604"/>
            <a:ext cx="17387709" cy="562934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8605" y="7139494"/>
            <a:ext cx="8528481" cy="3498956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89" indent="0">
              <a:buNone/>
              <a:defRPr sz="4409" b="1"/>
            </a:lvl2pPr>
            <a:lvl3pPr marL="2015978" indent="0">
              <a:buNone/>
              <a:defRPr sz="3968" b="1"/>
            </a:lvl3pPr>
            <a:lvl4pPr marL="3023967" indent="0">
              <a:buNone/>
              <a:defRPr sz="3528" b="1"/>
            </a:lvl4pPr>
            <a:lvl5pPr marL="4031955" indent="0">
              <a:buNone/>
              <a:defRPr sz="3528" b="1"/>
            </a:lvl5pPr>
            <a:lvl6pPr marL="5039944" indent="0">
              <a:buNone/>
              <a:defRPr sz="3528" b="1"/>
            </a:lvl6pPr>
            <a:lvl7pPr marL="6047933" indent="0">
              <a:buNone/>
              <a:defRPr sz="3528" b="1"/>
            </a:lvl7pPr>
            <a:lvl8pPr marL="7055922" indent="0">
              <a:buNone/>
              <a:defRPr sz="3528" b="1"/>
            </a:lvl8pPr>
            <a:lvl9pPr marL="8063911" indent="0">
              <a:buNone/>
              <a:defRPr sz="352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605" y="10638451"/>
            <a:ext cx="8528481" cy="1564755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205830" y="7139494"/>
            <a:ext cx="8570483" cy="3498956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89" indent="0">
              <a:buNone/>
              <a:defRPr sz="4409" b="1"/>
            </a:lvl2pPr>
            <a:lvl3pPr marL="2015978" indent="0">
              <a:buNone/>
              <a:defRPr sz="3968" b="1"/>
            </a:lvl3pPr>
            <a:lvl4pPr marL="3023967" indent="0">
              <a:buNone/>
              <a:defRPr sz="3528" b="1"/>
            </a:lvl4pPr>
            <a:lvl5pPr marL="4031955" indent="0">
              <a:buNone/>
              <a:defRPr sz="3528" b="1"/>
            </a:lvl5pPr>
            <a:lvl6pPr marL="5039944" indent="0">
              <a:buNone/>
              <a:defRPr sz="3528" b="1"/>
            </a:lvl6pPr>
            <a:lvl7pPr marL="6047933" indent="0">
              <a:buNone/>
              <a:defRPr sz="3528" b="1"/>
            </a:lvl7pPr>
            <a:lvl8pPr marL="7055922" indent="0">
              <a:buNone/>
              <a:defRPr sz="3528" b="1"/>
            </a:lvl8pPr>
            <a:lvl9pPr marL="8063911" indent="0">
              <a:buNone/>
              <a:defRPr sz="352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205830" y="10638451"/>
            <a:ext cx="8570483" cy="1564755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11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70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33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3" y="1941618"/>
            <a:ext cx="6502016" cy="6795664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0483" y="4193363"/>
            <a:ext cx="10205829" cy="20697112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8603" y="8737282"/>
            <a:ext cx="6502016" cy="16186897"/>
          </a:xfrm>
        </p:spPr>
        <p:txBody>
          <a:bodyPr/>
          <a:lstStyle>
            <a:lvl1pPr marL="0" indent="0">
              <a:buNone/>
              <a:defRPr sz="3528"/>
            </a:lvl1pPr>
            <a:lvl2pPr marL="1007989" indent="0">
              <a:buNone/>
              <a:defRPr sz="3087"/>
            </a:lvl2pPr>
            <a:lvl3pPr marL="2015978" indent="0">
              <a:buNone/>
              <a:defRPr sz="2646"/>
            </a:lvl3pPr>
            <a:lvl4pPr marL="3023967" indent="0">
              <a:buNone/>
              <a:defRPr sz="2205"/>
            </a:lvl4pPr>
            <a:lvl5pPr marL="4031955" indent="0">
              <a:buNone/>
              <a:defRPr sz="2205"/>
            </a:lvl5pPr>
            <a:lvl6pPr marL="5039944" indent="0">
              <a:buNone/>
              <a:defRPr sz="2205"/>
            </a:lvl6pPr>
            <a:lvl7pPr marL="6047933" indent="0">
              <a:buNone/>
              <a:defRPr sz="2205"/>
            </a:lvl7pPr>
            <a:lvl8pPr marL="7055922" indent="0">
              <a:buNone/>
              <a:defRPr sz="2205"/>
            </a:lvl8pPr>
            <a:lvl9pPr marL="8063911" indent="0">
              <a:buNone/>
              <a:defRPr sz="220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00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603" y="1941618"/>
            <a:ext cx="6502016" cy="6795664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70483" y="4193363"/>
            <a:ext cx="10205829" cy="20697112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89" indent="0">
              <a:buNone/>
              <a:defRPr sz="6173"/>
            </a:lvl2pPr>
            <a:lvl3pPr marL="2015978" indent="0">
              <a:buNone/>
              <a:defRPr sz="5291"/>
            </a:lvl3pPr>
            <a:lvl4pPr marL="3023967" indent="0">
              <a:buNone/>
              <a:defRPr sz="4409"/>
            </a:lvl4pPr>
            <a:lvl5pPr marL="4031955" indent="0">
              <a:buNone/>
              <a:defRPr sz="4409"/>
            </a:lvl5pPr>
            <a:lvl6pPr marL="5039944" indent="0">
              <a:buNone/>
              <a:defRPr sz="4409"/>
            </a:lvl6pPr>
            <a:lvl7pPr marL="6047933" indent="0">
              <a:buNone/>
              <a:defRPr sz="4409"/>
            </a:lvl7pPr>
            <a:lvl8pPr marL="7055922" indent="0">
              <a:buNone/>
              <a:defRPr sz="4409"/>
            </a:lvl8pPr>
            <a:lvl9pPr marL="8063911" indent="0">
              <a:buNone/>
              <a:defRPr sz="440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8603" y="8737282"/>
            <a:ext cx="6502016" cy="16186897"/>
          </a:xfrm>
        </p:spPr>
        <p:txBody>
          <a:bodyPr/>
          <a:lstStyle>
            <a:lvl1pPr marL="0" indent="0">
              <a:buNone/>
              <a:defRPr sz="3528"/>
            </a:lvl1pPr>
            <a:lvl2pPr marL="1007989" indent="0">
              <a:buNone/>
              <a:defRPr sz="3087"/>
            </a:lvl2pPr>
            <a:lvl3pPr marL="2015978" indent="0">
              <a:buNone/>
              <a:defRPr sz="2646"/>
            </a:lvl3pPr>
            <a:lvl4pPr marL="3023967" indent="0">
              <a:buNone/>
              <a:defRPr sz="2205"/>
            </a:lvl4pPr>
            <a:lvl5pPr marL="4031955" indent="0">
              <a:buNone/>
              <a:defRPr sz="2205"/>
            </a:lvl5pPr>
            <a:lvl6pPr marL="5039944" indent="0">
              <a:buNone/>
              <a:defRPr sz="2205"/>
            </a:lvl6pPr>
            <a:lvl7pPr marL="6047933" indent="0">
              <a:buNone/>
              <a:defRPr sz="2205"/>
            </a:lvl7pPr>
            <a:lvl8pPr marL="7055922" indent="0">
              <a:buNone/>
              <a:defRPr sz="2205"/>
            </a:lvl8pPr>
            <a:lvl9pPr marL="8063911" indent="0">
              <a:buNone/>
              <a:defRPr sz="220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4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62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426760" y="1550598"/>
            <a:ext cx="4346927" cy="246814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78" y="1550598"/>
            <a:ext cx="12788786" cy="246814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531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5977" y="1550604"/>
            <a:ext cx="17387709" cy="5629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77" y="7752990"/>
            <a:ext cx="17387709" cy="18479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5977" y="26993895"/>
            <a:ext cx="4535924" cy="1550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D32A6-3FBF-496F-91EC-7436BD54A352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77889" y="26993895"/>
            <a:ext cx="6803886" cy="1550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37762" y="26993895"/>
            <a:ext cx="4535924" cy="15505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80F70-6963-4304-BD04-71F54B6D8C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15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015978" rtl="0" eaLnBrk="1" latinLnBrk="1" hangingPunct="1">
        <a:lnSpc>
          <a:spcPct val="90000"/>
        </a:lnSpc>
        <a:spcBef>
          <a:spcPct val="0"/>
        </a:spcBef>
        <a:buNone/>
        <a:defRPr sz="97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94" indent="-503994" algn="l" defTabSz="2015978" rtl="0" eaLnBrk="1" latinLnBrk="1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83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72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961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950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939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927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916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905" indent="-503994" algn="l" defTabSz="2015978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89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978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967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955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944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933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922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911" algn="l" defTabSz="2015978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998CDF8-9F69-609A-CEC0-03A0E4C4E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07" y="1227987"/>
            <a:ext cx="2662312" cy="18675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A7D591-199C-40E7-AC1B-390C3B417944}"/>
              </a:ext>
            </a:extLst>
          </p:cNvPr>
          <p:cNvSpPr txBox="1"/>
          <p:nvPr/>
        </p:nvSpPr>
        <p:spPr>
          <a:xfrm>
            <a:off x="155791" y="1227986"/>
            <a:ext cx="198172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 dirty="0">
                <a:solidFill>
                  <a:srgbClr val="002060"/>
                </a:solidFill>
                <a:latin typeface="+mj-ea"/>
                <a:ea typeface="+mj-ea"/>
              </a:rPr>
              <a:t>서울 토지거래허가구역 인과효과 추정</a:t>
            </a:r>
            <a:endParaRPr lang="en-US" altLang="ko-KR" sz="60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4000" b="1" spc="-94" dirty="0">
                <a:solidFill>
                  <a:srgbClr val="002060"/>
                </a:solidFill>
                <a:latin typeface="+mj-ea"/>
                <a:ea typeface="+mj-ea"/>
              </a:rPr>
              <a:t>실거래 47만 건과 정책 공고 원문을 결합한 미시 패널 구축</a:t>
            </a:r>
            <a:endParaRPr lang="en-US" altLang="ko-KR" sz="4000" b="1" spc="-94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16" name="모서리가 둥근 직사각형 173">
            <a:extLst>
              <a:ext uri="{FF2B5EF4-FFF2-40B4-BE49-F238E27FC236}">
                <a16:creationId xmlns:a16="http://schemas.microsoft.com/office/drawing/2014/main" id="{50229CF3-A5DF-46ED-A57F-604A30A61D18}"/>
              </a:ext>
            </a:extLst>
          </p:cNvPr>
          <p:cNvSpPr/>
          <p:nvPr/>
        </p:nvSpPr>
        <p:spPr>
          <a:xfrm>
            <a:off x="369568" y="22855138"/>
            <a:ext cx="19460510" cy="5961511"/>
          </a:xfrm>
          <a:prstGeom prst="roundRect">
            <a:avLst>
              <a:gd name="adj" fmla="val 2420"/>
            </a:avLst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518">
              <a:latin typeface="+mj-ea"/>
              <a:ea typeface="+mj-ea"/>
            </a:endParaRPr>
          </a:p>
        </p:txBody>
      </p:sp>
      <p:sp>
        <p:nvSpPr>
          <p:cNvPr id="17" name="모서리가 둥근 직사각형 25">
            <a:extLst>
              <a:ext uri="{FF2B5EF4-FFF2-40B4-BE49-F238E27FC236}">
                <a16:creationId xmlns:a16="http://schemas.microsoft.com/office/drawing/2014/main" id="{E62EB254-2DBF-426D-8667-F4816328889D}"/>
              </a:ext>
            </a:extLst>
          </p:cNvPr>
          <p:cNvSpPr/>
          <p:nvPr/>
        </p:nvSpPr>
        <p:spPr>
          <a:xfrm>
            <a:off x="324262" y="8861627"/>
            <a:ext cx="19460510" cy="13080331"/>
          </a:xfrm>
          <a:prstGeom prst="roundRect">
            <a:avLst>
              <a:gd name="adj" fmla="val 2420"/>
            </a:avLst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518">
              <a:latin typeface="+mj-ea"/>
              <a:ea typeface="+mj-ea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605611" y="8237625"/>
            <a:ext cx="3051989" cy="855455"/>
          </a:xfrm>
          <a:prstGeom prst="roundRect">
            <a:avLst/>
          </a:prstGeom>
          <a:solidFill>
            <a:srgbClr val="A82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742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시스템 구조</a:t>
            </a: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50916" y="22231635"/>
            <a:ext cx="4280313" cy="971265"/>
          </a:xfrm>
          <a:prstGeom prst="roundRect">
            <a:avLst/>
          </a:prstGeom>
          <a:solidFill>
            <a:srgbClr val="A82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742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적용 및 기대효과</a:t>
            </a:r>
          </a:p>
        </p:txBody>
      </p:sp>
      <p:sp>
        <p:nvSpPr>
          <p:cNvPr id="23" name="모서리가 둥근 직사각형 6">
            <a:extLst>
              <a:ext uri="{FF2B5EF4-FFF2-40B4-BE49-F238E27FC236}">
                <a16:creationId xmlns:a16="http://schemas.microsoft.com/office/drawing/2014/main" id="{BADAC68A-C224-43C8-813E-A5453E7D093A}"/>
              </a:ext>
            </a:extLst>
          </p:cNvPr>
          <p:cNvSpPr/>
          <p:nvPr/>
        </p:nvSpPr>
        <p:spPr>
          <a:xfrm>
            <a:off x="369983" y="4095434"/>
            <a:ext cx="19460510" cy="3927419"/>
          </a:xfrm>
          <a:prstGeom prst="roundRect">
            <a:avLst>
              <a:gd name="adj" fmla="val 2420"/>
            </a:avLst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518">
              <a:latin typeface="+mj-ea"/>
              <a:ea typeface="+mj-ea"/>
            </a:endParaRPr>
          </a:p>
        </p:txBody>
      </p:sp>
      <p:sp>
        <p:nvSpPr>
          <p:cNvPr id="24" name="모서리가 둥근 직사각형 7">
            <a:extLst>
              <a:ext uri="{FF2B5EF4-FFF2-40B4-BE49-F238E27FC236}">
                <a16:creationId xmlns:a16="http://schemas.microsoft.com/office/drawing/2014/main" id="{9941AD8A-EA33-4C89-9E74-030CA768BE36}"/>
              </a:ext>
            </a:extLst>
          </p:cNvPr>
          <p:cNvSpPr/>
          <p:nvPr/>
        </p:nvSpPr>
        <p:spPr>
          <a:xfrm>
            <a:off x="651333" y="3471430"/>
            <a:ext cx="1585681" cy="855455"/>
          </a:xfrm>
          <a:prstGeom prst="roundRect">
            <a:avLst/>
          </a:prstGeom>
          <a:solidFill>
            <a:srgbClr val="A82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742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</a:t>
            </a:r>
            <a:r>
              <a:rPr lang="ko-KR" altLang="en-US" sz="3742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배경</a:t>
            </a:r>
          </a:p>
        </p:txBody>
      </p:sp>
      <p:sp>
        <p:nvSpPr>
          <p:cNvPr id="25" name="모서리가 둥근 직사각형 19">
            <a:extLst>
              <a:ext uri="{FF2B5EF4-FFF2-40B4-BE49-F238E27FC236}">
                <a16:creationId xmlns:a16="http://schemas.microsoft.com/office/drawing/2014/main" id="{C1B11108-F204-4803-AA35-DAEE442920B3}"/>
              </a:ext>
            </a:extLst>
          </p:cNvPr>
          <p:cNvSpPr/>
          <p:nvPr/>
        </p:nvSpPr>
        <p:spPr>
          <a:xfrm>
            <a:off x="10450286" y="3471429"/>
            <a:ext cx="1585681" cy="855455"/>
          </a:xfrm>
          <a:prstGeom prst="roundRect">
            <a:avLst/>
          </a:prstGeom>
          <a:solidFill>
            <a:srgbClr val="A82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3742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목표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EF5125-A8D4-4585-9099-9602A97CACE0}"/>
              </a:ext>
            </a:extLst>
          </p:cNvPr>
          <p:cNvSpPr txBox="1"/>
          <p:nvPr/>
        </p:nvSpPr>
        <p:spPr>
          <a:xfrm flipH="1">
            <a:off x="16442870" y="2680480"/>
            <a:ext cx="3431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b="1" dirty="0">
                <a:latin typeface="+mj-ea"/>
                <a:ea typeface="+mj-ea"/>
              </a:rPr>
              <a:t>지도교수</a:t>
            </a:r>
            <a:r>
              <a:rPr lang="en-US" altLang="ko-KR" sz="3000" b="1" dirty="0">
                <a:latin typeface="+mj-ea"/>
                <a:ea typeface="+mj-ea"/>
              </a:rPr>
              <a:t>: 김성곤</a:t>
            </a:r>
          </a:p>
          <a:p>
            <a:r>
              <a:rPr lang="ko-KR" altLang="en-US" sz="3000" b="1" dirty="0">
                <a:latin typeface="+mj-ea"/>
                <a:ea typeface="+mj-ea"/>
              </a:rPr>
              <a:t>조      원</a:t>
            </a:r>
            <a:r>
              <a:rPr lang="en-US" altLang="ko-KR" sz="3000" b="1" dirty="0">
                <a:latin typeface="+mj-ea"/>
                <a:ea typeface="+mj-ea"/>
              </a:rPr>
              <a:t>: 이찬희</a:t>
            </a:r>
            <a:endParaRPr lang="ko-KR" altLang="en-US" sz="3000" b="1" dirty="0">
              <a:latin typeface="+mj-ea"/>
              <a:ea typeface="+mj-ea"/>
            </a:endParaRPr>
          </a:p>
        </p:txBody>
      </p:sp>
      <p:graphicFrame>
        <p:nvGraphicFramePr>
          <p:cNvPr id="30" name="표 72">
            <a:extLst>
              <a:ext uri="{FF2B5EF4-FFF2-40B4-BE49-F238E27FC236}">
                <a16:creationId xmlns:a16="http://schemas.microsoft.com/office/drawing/2014/main" id="{E2A351F6-3415-420C-9E0D-D9F88BB3F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054911"/>
              </p:ext>
            </p:extLst>
          </p:nvPr>
        </p:nvGraphicFramePr>
        <p:xfrm>
          <a:off x="0" y="0"/>
          <a:ext cx="20159663" cy="73758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931008">
                  <a:extLst>
                    <a:ext uri="{9D8B030D-6E8A-4147-A177-3AD203B41FA5}">
                      <a16:colId xmlns:a16="http://schemas.microsoft.com/office/drawing/2014/main" val="1512126031"/>
                    </a:ext>
                  </a:extLst>
                </a:gridCol>
                <a:gridCol w="4068930">
                  <a:extLst>
                    <a:ext uri="{9D8B030D-6E8A-4147-A177-3AD203B41FA5}">
                      <a16:colId xmlns:a16="http://schemas.microsoft.com/office/drawing/2014/main" val="2125831587"/>
                    </a:ext>
                  </a:extLst>
                </a:gridCol>
                <a:gridCol w="13159725">
                  <a:extLst>
                    <a:ext uri="{9D8B030D-6E8A-4147-A177-3AD203B41FA5}">
                      <a16:colId xmlns:a16="http://schemas.microsoft.com/office/drawing/2014/main" val="1014080419"/>
                    </a:ext>
                  </a:extLst>
                </a:gridCol>
              </a:tblGrid>
              <a:tr h="737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900" dirty="0">
                          <a:solidFill>
                            <a:schemeClr val="bg1"/>
                          </a:solidFill>
                        </a:rPr>
                        <a:t>컴퓨터공학과</a:t>
                      </a:r>
                    </a:p>
                  </a:txBody>
                  <a:tcPr marL="85546" marR="85546" marT="42772" marB="427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900" dirty="0" err="1">
                          <a:solidFill>
                            <a:schemeClr val="bg1"/>
                          </a:solidFill>
                        </a:rPr>
                        <a:t>캡스톤디자인</a:t>
                      </a:r>
                      <a:r>
                        <a:rPr lang="ko-KR" altLang="en-US" sz="2900" dirty="0">
                          <a:solidFill>
                            <a:schemeClr val="bg1"/>
                          </a:solidFill>
                        </a:rPr>
                        <a:t> 작품</a:t>
                      </a:r>
                    </a:p>
                  </a:txBody>
                  <a:tcPr marL="85546" marR="85546" marT="42772" marB="427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2900" dirty="0"/>
                        <a:t>202611_41010-??</a:t>
                      </a:r>
                      <a:endParaRPr lang="ko-KR" altLang="en-US" sz="2900" dirty="0"/>
                    </a:p>
                  </a:txBody>
                  <a:tcPr marL="85546" marR="85546" marT="42772" marB="4277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558212"/>
                  </a:ext>
                </a:extLst>
              </a:tr>
            </a:tbl>
          </a:graphicData>
        </a:graphic>
      </p:graphicFrame>
      <p:sp>
        <p:nvSpPr>
          <p:cNvPr id="176" name="TextBox 175"/>
          <p:cNvSpPr txBox="1"/>
          <p:nvPr/>
        </p:nvSpPr>
        <p:spPr>
          <a:xfrm>
            <a:off x="612000" y="4356000"/>
            <a:ext cx="9288000" cy="3384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02060"/>
                </a:solidFill>
                <a:latin typeface="맑은 고딕"/>
              </a:rPr>
              <a:t>강남·송파 아파트 가격은 9년 만에 2.4배가 됐다.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2100" b="0">
                <a:solidFill>
                  <a:srgbClr val="1A1A1A"/>
                </a:solidFill>
                <a:latin typeface="맑은 고딕"/>
              </a:rPr>
              <a:t>2017년 6월 100 → 2022년 6월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190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 → 1년 만에 </a:t>
            </a:r>
            <a:r>
              <a:rPr sz="2100" b="1">
                <a:solidFill>
                  <a:srgbClr val="C00000"/>
                </a:solidFill>
                <a:latin typeface="맑은 고딕"/>
              </a:rPr>
              <a:t>169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 → 2026년 5월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237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800" b="0">
                <a:solidFill>
                  <a:srgbClr val="595959"/>
                </a:solidFill>
                <a:latin typeface="맑은 고딕"/>
              </a:rPr>
              <a:t>이 연구가 지은 반복매매지수. 같은 집이 두 번 팔린 79,675쌍만 쓴다.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2100" b="0">
                <a:solidFill>
                  <a:srgbClr val="1A1A1A"/>
                </a:solidFill>
                <a:latin typeface="맑은 고딕"/>
              </a:rPr>
              <a:t>정부는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토지거래허가제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로 답했다. 집을 사려면 구청 허가를 받아야 한다. 2020년 6월 서울에 처음 걸렸고 2025년 10월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서울 전역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으로 넓어졌다.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2200" b="1">
                <a:solidFill>
                  <a:srgbClr val="C00000"/>
                </a:solidFill>
                <a:latin typeface="맑은 고딕"/>
              </a:rPr>
              <a:t>그런데 이 규제가 무엇을 했는지는 분명하지 않다.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900" b="0">
                <a:solidFill>
                  <a:srgbClr val="595959"/>
                </a:solidFill>
                <a:latin typeface="맑은 고딕"/>
              </a:rPr>
              <a:t>선행연구 세 편의 결론이 엇갈린다. 동 단위 집계로는 지정 전후를 가를 수 없다. 날짜 세는 법 하나가 </a:t>
            </a:r>
            <a:r>
              <a:rPr sz="1900" b="1">
                <a:solidFill>
                  <a:srgbClr val="C00000"/>
                </a:solidFill>
                <a:latin typeface="맑은 고딕"/>
              </a:rPr>
              <a:t>39.6 %p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를 가른다 — 달력 월 −40.5%, 효력일 −80.1%.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404000" y="4356000"/>
            <a:ext cx="9144000" cy="3384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2060"/>
                </a:solidFill>
                <a:latin typeface="맑은 고딕"/>
              </a:rPr>
              <a:t>거래 한 건이 한 행인 미시 패널을 짓고,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2060"/>
                </a:solidFill>
                <a:latin typeface="맑은 고딕"/>
              </a:rPr>
              <a:t>그 위에서 인과효과를 추정한다.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2100" b="0">
                <a:solidFill>
                  <a:srgbClr val="1A1A1A"/>
                </a:solidFill>
                <a:latin typeface="맑은 고딕"/>
              </a:rPr>
              <a:t>국토교통부 실거래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상세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 자료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47만 건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에 서울시보·전자관보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공고 원문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을 결합해, 거래마다 계약일·전용면적·층·단지와 그 시점의 규제 상태를 붙인다.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2100" b="0">
                <a:solidFill>
                  <a:srgbClr val="1A1A1A"/>
                </a:solidFill>
                <a:latin typeface="맑은 고딕"/>
              </a:rPr>
              <a:t>수집부터 보고서의 표·그림까지 </a:t>
            </a:r>
            <a:r>
              <a:rPr sz="2100" b="1">
                <a:solidFill>
                  <a:srgbClr val="C00000"/>
                </a:solidFill>
                <a:latin typeface="맑은 고딕"/>
              </a:rPr>
              <a:t>한 번의 명령으로 재현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되게 만들고, 문서의 숫자가 분석 결과와 어긋나지 않는지 매 실행마다 점검한다.</a:t>
            </a:r>
          </a:p>
        </p:txBody>
      </p:sp>
      <p:pic>
        <p:nvPicPr>
          <p:cNvPr id="178" name="Picture 177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00" y="9216000"/>
            <a:ext cx="8856000" cy="9724235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684000" y="19620000"/>
            <a:ext cx="8856000" cy="2088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00000"/>
                </a:solidFill>
                <a:latin typeface="맑은 고딕"/>
              </a:rPr>
              <a:t>입구는 셋인데 출구는 하나다.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900" b="0">
                <a:solidFill>
                  <a:srgbClr val="595959"/>
                </a:solidFill>
                <a:latin typeface="맑은 고딕"/>
              </a:rPr>
              <a:t>현재 값의 출처는 output/results/*.json 하나이며, 보고서의 표와 결과 대시보드가 거기서 생성된다. 가운데 줄기(공고 PDF → 법정동 지정 구간)가 없으면 처치 변수 자체가 없다.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152000" y="9324000"/>
            <a:ext cx="9216000" cy="4320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02060"/>
                </a:solidFill>
                <a:latin typeface="맑은 고딕"/>
              </a:rPr>
              <a:t>미시 패널이라야 보이는 것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2100" b="1">
                <a:solidFill>
                  <a:srgbClr val="C00000"/>
                </a:solidFill>
                <a:latin typeface="맑은 고딕"/>
              </a:rPr>
              <a:t>•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지정 직후 효과가 −59%가 아니라 −80%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    ← 거래 하나하나의 계약일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2100" b="1">
                <a:solidFill>
                  <a:srgbClr val="C00000"/>
                </a:solidFill>
                <a:latin typeface="맑은 고딕"/>
              </a:rPr>
              <a:t>•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공고와 효력 사이 나흘의 막차 수요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    ← 하루 단위 거래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2100" b="1">
                <a:solidFill>
                  <a:srgbClr val="C00000"/>
                </a:solidFill>
                <a:latin typeface="맑은 고딕"/>
              </a:rPr>
              <a:t>•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허가 면적 기준이 회피 통로였다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    ← 거래마다의 전용면적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2100" b="1">
                <a:solidFill>
                  <a:srgbClr val="C00000"/>
                </a:solidFill>
                <a:latin typeface="맑은 고딕"/>
              </a:rPr>
              <a:t>•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중위가가 11포인트 부풀려져 있었다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    ← 같은 집의 반복 거래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sz="2100" b="1">
                <a:solidFill>
                  <a:srgbClr val="C00000"/>
                </a:solidFill>
                <a:latin typeface="맑은 고딕"/>
              </a:rPr>
              <a:t>•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2025년 부분 해제 — 같은 동 안의 두 집단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    ← 단지별 해제·유지 여부</a:t>
            </a:r>
          </a:p>
        </p:txBody>
      </p:sp>
      <p:pic>
        <p:nvPicPr>
          <p:cNvPr id="181" name="Picture 180" descr="09_release_2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2000" y="13104000"/>
            <a:ext cx="9216000" cy="2640202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10152000" y="15912000"/>
            <a:ext cx="9216000" cy="4500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02060"/>
                </a:solidFill>
                <a:latin typeface="맑은 고딕"/>
              </a:rPr>
              <a:t>2025년 재지정 — 미시 자료가 아니면 안 보이는 장면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900" b="0">
                <a:solidFill>
                  <a:srgbClr val="595959"/>
                </a:solidFill>
                <a:latin typeface="맑은 고딕"/>
              </a:rPr>
              <a:t>왼쪽은 주별 거래. 해제(2/13)에 솟았다가 재지정(3/24)에 바닥으로 꺼진다. 가운데는 </a:t>
            </a:r>
            <a:r>
              <a:rPr sz="1900" b="1">
                <a:solidFill>
                  <a:srgbClr val="595959"/>
                </a:solidFill>
                <a:latin typeface="맑은 고딕"/>
              </a:rPr>
              <a:t>발표에서 효력까지 나흘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 — 그 나흘에 해제군 거래가 30건에서 </a:t>
            </a:r>
            <a:r>
              <a:rPr sz="1900" b="1">
                <a:solidFill>
                  <a:srgbClr val="C00000"/>
                </a:solidFill>
                <a:latin typeface="맑은 고딕"/>
              </a:rPr>
              <a:t>155건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으로 5.2배 뛰었다가, 효력 뒤 나흘에는 2건이 된다.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900" b="0">
                <a:solidFill>
                  <a:srgbClr val="595959"/>
                </a:solidFill>
                <a:latin typeface="맑은 고딕"/>
              </a:rPr>
              <a:t>오른쪽은 면적 기준의 효과. 허가 기준이 대지 18 m²에서 6 m²로 좁아지자 소형이 </a:t>
            </a:r>
            <a:r>
              <a:rPr sz="1900" b="1">
                <a:solidFill>
                  <a:srgbClr val="C00000"/>
                </a:solidFill>
                <a:latin typeface="맑은 고딕"/>
              </a:rPr>
              <a:t>+126%에서 −72%로</a:t>
            </a:r>
            <a:r>
              <a:rPr sz="1900" b="0">
                <a:solidFill>
                  <a:srgbClr val="595959"/>
                </a:solidFill>
                <a:latin typeface="맑은 고딕"/>
              </a:rPr>
              <a:t> 뒤집혔다.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152000" y="19152000"/>
            <a:ext cx="9216000" cy="2520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002060"/>
                </a:solidFill>
                <a:latin typeface="맑은 고딕"/>
              </a:rPr>
              <a:t>매 실행마다 걸리는 자동 점검 넷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900" b="0">
                <a:solidFill>
                  <a:srgbClr val="595959"/>
                </a:solidFill>
                <a:latin typeface="맑은 고딕"/>
              </a:rPr>
              <a:t>폐기된 값 · 아무도 안 만드는 산출물 · 의존 목록의 구멍 · 보고서 표 생성. 새 폴더 새 가상환경에서 돌려 결과 파일 25개가 바이트 단위로 같은 것을 확인했다.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48000" y="23184000"/>
            <a:ext cx="9720000" cy="5328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02060"/>
                </a:solidFill>
                <a:latin typeface="맑은 고딕"/>
              </a:rPr>
              <a:t>결과 셋</a:t>
            </a:r>
          </a:p>
          <a:p>
            <a:pPr algn="l">
              <a:lnSpc>
                <a:spcPct val="115000"/>
              </a:lnSpc>
              <a:spcBef>
                <a:spcPts val="1100"/>
              </a:spcBef>
            </a:pPr>
            <a:r>
              <a:rPr sz="2300" b="1">
                <a:solidFill>
                  <a:srgbClr val="C00000"/>
                </a:solidFill>
                <a:latin typeface="맑은 고딕"/>
              </a:rPr>
              <a:t>1. </a:t>
            </a:r>
            <a:r>
              <a:rPr sz="2300" b="1">
                <a:solidFill>
                  <a:srgbClr val="1A1A1A"/>
                </a:solidFill>
                <a:latin typeface="맑은 고딕"/>
              </a:rPr>
              <a:t>거래는 확실하게 멈췄다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2000" b="0">
                <a:solidFill>
                  <a:srgbClr val="595959"/>
                </a:solidFill>
                <a:latin typeface="맑은 고딕"/>
              </a:rPr>
              <a:t>지정 직후 3개월 −71 ~ −80%. 27개 동에서 4개를 고르는 17,550가지 중 진짜 배정이 1위이고, 합리적인 설계 조합 192가지가 전부 음수다.</a:t>
            </a:r>
          </a:p>
          <a:p>
            <a:pPr algn="l">
              <a:lnSpc>
                <a:spcPct val="115000"/>
              </a:lnSpc>
              <a:spcBef>
                <a:spcPts val="1100"/>
              </a:spcBef>
            </a:pPr>
            <a:r>
              <a:rPr sz="2300" b="1">
                <a:solidFill>
                  <a:srgbClr val="C00000"/>
                </a:solidFill>
                <a:latin typeface="맑은 고딕"/>
              </a:rPr>
              <a:t>2. </a:t>
            </a:r>
            <a:r>
              <a:rPr sz="2300" b="1">
                <a:solidFill>
                  <a:srgbClr val="1A1A1A"/>
                </a:solidFill>
                <a:latin typeface="맑은 고딕"/>
              </a:rPr>
              <a:t>그러나 가격을 잡았다는 증거는 약하다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2000" b="0">
                <a:solidFill>
                  <a:srgbClr val="595959"/>
                </a:solidFill>
                <a:latin typeface="맑은 고딕"/>
              </a:rPr>
              <a:t>평행추세를 가정하면 −4 ~ −7%이나, 그 가정을 조금만 풀면 0과 구분되지 않는다(붕괴값 0.22 대 거래량 1.62).</a:t>
            </a:r>
          </a:p>
          <a:p>
            <a:pPr algn="l">
              <a:lnSpc>
                <a:spcPct val="115000"/>
              </a:lnSpc>
              <a:spcBef>
                <a:spcPts val="1100"/>
              </a:spcBef>
            </a:pPr>
            <a:r>
              <a:rPr sz="2300" b="1">
                <a:solidFill>
                  <a:srgbClr val="C00000"/>
                </a:solidFill>
                <a:latin typeface="맑은 고딕"/>
              </a:rPr>
              <a:t>3. </a:t>
            </a:r>
            <a:r>
              <a:rPr sz="2300" b="1">
                <a:solidFill>
                  <a:srgbClr val="1A1A1A"/>
                </a:solidFill>
                <a:latin typeface="맑은 고딕"/>
              </a:rPr>
              <a:t>갈랐던 것은 허가 면적 기준이었다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2000" b="0">
                <a:solidFill>
                  <a:srgbClr val="595959"/>
                </a:solidFill>
                <a:latin typeface="맑은 고딕"/>
              </a:rPr>
              <a:t>2020년 지정은 대지 18 m² 초과만 걸려 소형은 오히려 늘었다(+126%). 2022년 기준이 6 m²로 좁아지자 그때 소형만 33% 줄었다.</a:t>
            </a:r>
          </a:p>
          <a:p>
            <a:pPr algn="l">
              <a:lnSpc>
                <a:spcPct val="115000"/>
              </a:lnSpc>
              <a:spcBef>
                <a:spcPts val="1300"/>
              </a:spcBef>
            </a:pPr>
            <a:r>
              <a:rPr sz="2300" b="1">
                <a:solidFill>
                  <a:srgbClr val="C00000"/>
                </a:solidFill>
                <a:latin typeface="맑은 고딕"/>
              </a:rPr>
              <a:t>제도의 명분은 가격 안정인데 작동한 것은 거래 동결이었다.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2100" b="0">
                <a:solidFill>
                  <a:srgbClr val="1A1A1A"/>
                </a:solidFill>
                <a:latin typeface="맑은 고딕"/>
              </a:rPr>
              <a:t>규제를 </a:t>
            </a:r>
            <a:r>
              <a:rPr sz="2100" b="1">
                <a:solidFill>
                  <a:srgbClr val="1A1A1A"/>
                </a:solidFill>
                <a:latin typeface="맑은 고딕"/>
              </a:rPr>
              <a:t>거느냐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가 아니라 </a:t>
            </a:r>
            <a:r>
              <a:rPr sz="2100" b="1">
                <a:solidFill>
                  <a:srgbClr val="002060"/>
                </a:solidFill>
                <a:latin typeface="맑은 고딕"/>
              </a:rPr>
              <a:t>어떻게 거느냐</a:t>
            </a:r>
            <a:r>
              <a:rPr sz="2100" b="0">
                <a:solidFill>
                  <a:srgbClr val="1A1A1A"/>
                </a:solidFill>
                <a:latin typeface="맑은 고딕"/>
              </a:rPr>
              <a:t>가 효과를 정한다.</a:t>
            </a:r>
          </a:p>
        </p:txBody>
      </p:sp>
      <p:pic>
        <p:nvPicPr>
          <p:cNvPr id="185" name="Picture 184" descr="06g_area_exemp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000" y="23364000"/>
            <a:ext cx="8640000" cy="2430106"/>
          </a:xfrm>
          <a:prstGeom prst="rect">
            <a:avLst/>
          </a:prstGeom>
        </p:spPr>
      </p:pic>
      <p:sp>
        <p:nvSpPr>
          <p:cNvPr id="186" name="TextBox 185"/>
          <p:cNvSpPr txBox="1"/>
          <p:nvPr/>
        </p:nvSpPr>
        <p:spPr>
          <a:xfrm>
            <a:off x="10620000" y="25884000"/>
            <a:ext cx="8640000" cy="1007999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95959"/>
                </a:solidFill>
                <a:latin typeface="맑은 고딕"/>
              </a:rPr>
              <a:t>가운데가 2022년 기준 강화, 오른쪽이 같은 절차를 기준 그대로인 사건에 건 위약 검정. </a:t>
            </a:r>
            <a:r>
              <a:rPr sz="1800" b="1">
                <a:solidFill>
                  <a:srgbClr val="C00000"/>
                </a:solidFill>
                <a:latin typeface="맑은 고딕"/>
              </a:rPr>
              <a:t>기준을 바꾼 날에만 소형이 움직였다.</a:t>
            </a:r>
          </a:p>
        </p:txBody>
      </p:sp>
      <p:pic>
        <p:nvPicPr>
          <p:cNvPr id="187" name="Picture 186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0000" y="26855999"/>
            <a:ext cx="1655999" cy="1655999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12527999" y="26928000"/>
            <a:ext cx="6732000" cy="1584000"/>
          </a:xfrm>
          <a:prstGeom prst="rect">
            <a:avLst/>
          </a:prstGeom>
          <a:noFill/>
        </p:spPr>
        <p:txBody>
          <a:bodyPr wrap="square" lIns="54000" rIns="5400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060"/>
                </a:solidFill>
                <a:latin typeface="맑은 고딕"/>
              </a:rPr>
              <a:t>코드 · 자료 · 결정기록 전부 공개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900" b="0">
                <a:solidFill>
                  <a:srgbClr val="595959"/>
                </a:solidFill>
                <a:latin typeface="맑은 고딕"/>
              </a:rPr>
              <a:t>github.com/cosmicpotato2047/capstone-ltz-causal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800" b="0">
                <a:solidFill>
                  <a:srgbClr val="595959"/>
                </a:solidFill>
                <a:latin typeface="맑은 고딕"/>
              </a:rPr>
              <a:t>결정기록 31편 · 결과 대시보드 · 주차 보고서 8편. 분석을 다시 돌리면 보고서의 표와 그림이 따라 바뀐다.</a:t>
            </a:r>
          </a:p>
        </p:txBody>
      </p:sp>
    </p:spTree>
    <p:extLst>
      <p:ext uri="{BB962C8B-B14F-4D97-AF65-F5344CB8AC3E}">
        <p14:creationId xmlns:p14="http://schemas.microsoft.com/office/powerpoint/2010/main" val="1752795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595</TotalTime>
  <Words>271</Words>
  <Application>Microsoft Office PowerPoint</Application>
  <PresentationFormat>사용자 지정</PresentationFormat>
  <Paragraphs>49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 Sunglok</dc:creator>
  <cp:lastModifiedBy>MinA Cha</cp:lastModifiedBy>
  <cp:revision>135</cp:revision>
  <dcterms:created xsi:type="dcterms:W3CDTF">2018-04-20T01:15:34Z</dcterms:created>
  <dcterms:modified xsi:type="dcterms:W3CDTF">2026-09-23T06:10:09Z</dcterms:modified>
</cp:coreProperties>
</file>